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A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dtrip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754880" cy="3169920"/>
          </a:xfrm>
          <a:prstGeom prst="rect">
            <a:avLst/>
          </a:prstGeom>
        </p:spPr>
      </p:pic>
      <p:pic>
        <p:nvPicPr>
          <p:cNvPr id="9" name="Picture 8" descr="ppt-icon-k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80160"/>
            <a:ext cx="1188720" cy="1188720"/>
          </a:xfrm>
          <a:prstGeom prst="rect">
            <a:avLst/>
          </a:prstGeom>
        </p:spPr>
      </p:pic>
      <p:pic>
        <p:nvPicPr>
          <p:cNvPr id="10" name="Picture 9" descr="ppt-icon-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417320"/>
            <a:ext cx="8229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2651760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A8322A"/>
                </a:solidFill>
                <a:latin typeface="Microsoft YaHei"/>
                <a:ea typeface="Microsoft YaHei"/>
              </a:rPr>
              <a:t>红鸢 RedTrip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461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A1C21"/>
                </a:solidFill>
                <a:latin typeface="Microsoft YaHei"/>
                <a:ea typeface="Microsoft YaHei"/>
              </a:rPr>
              <a:t>城市记忆策展人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9476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A6154"/>
                </a:solidFill>
                <a:latin typeface="Microsoft YaHei"/>
                <a:ea typeface="Microsoft YaHei"/>
              </a:rPr>
              <a:t>牵引城市深处的记忆之线
化作一场可以行走的展览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9824F"/>
                </a:solidFill>
                <a:latin typeface="Microsoft YaHei"/>
                <a:ea typeface="Microsoft YaHei"/>
              </a:rPr>
              <a:t>上海图书馆开放数据竞赛 · 产品介绍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EDE4D3"/>
                </a:solidFill>
                <a:latin typeface="Microsoft YaHei"/>
                <a:ea typeface="Microsoft YaHei"/>
              </a:rPr>
              <a:t>总分总叙事  ·  概念 → 产品与技术亮点 → 内容产出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目录 ·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总分总，三幕式讲清红鸢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A6154"/>
                </a:solidFill>
                <a:latin typeface="Microsoft YaHei"/>
                <a:ea typeface="Microsoft YaHei"/>
              </a:rPr>
              <a:t>先立概念，再展开亮点，最后落到可带走的成书产出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pt-icon-k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24028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2461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总 · 概念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问题、定位、差异化一句话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92024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pt-icon-w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240280"/>
            <a:ext cx="822960" cy="822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66160" y="32461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61188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分 · 产品亮点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16052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出题到成书的完整体验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2024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pt-icon-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240280"/>
            <a:ext cx="822960" cy="822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32461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1188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分 · 技术亮点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6052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防幻觉工程与策展管线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92024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pt-icon-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2240280"/>
            <a:ext cx="822960" cy="822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35440" y="32461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61188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总 · 内容产出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16052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书页 / 地图 / PDF·EPUB / 小程序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红鸢 RedTrip  ·  城市记忆策展人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总 · 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别人拼接点位，我们编织关系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64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42416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A1C21"/>
                </a:solidFill>
                <a:latin typeface="Microsoft YaHei"/>
                <a:ea typeface="Microsoft YaHei"/>
              </a:rPr>
              <a:t>用上海图书馆的真实馆藏，为你策一场只属于你的城市展览——
走得动、站站可溯源、装订成一本书。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023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pt-icon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160520"/>
            <a:ext cx="594360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" y="493776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A8322A"/>
                </a:solidFill>
                <a:latin typeface="Microsoft YaHei"/>
                <a:ea typeface="Microsoft YaHei"/>
              </a:rPr>
              <a:t>馆藏取证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4023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pt-icon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4160520"/>
            <a:ext cx="594360" cy="594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199" y="493776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A8322A"/>
                </a:solidFill>
                <a:latin typeface="Microsoft YaHei"/>
                <a:ea typeface="Microsoft YaHei"/>
              </a:rPr>
              <a:t>关系编织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023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pt-icon-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594360" cy="594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29400" y="493776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A8322A"/>
                </a:solidFill>
                <a:latin typeface="Microsoft YaHei"/>
                <a:ea typeface="Microsoft YaHei"/>
              </a:rPr>
              <a:t>可走展览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4023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pt-icon-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4160520"/>
            <a:ext cx="594360" cy="594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72600" y="493776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A8322A"/>
                </a:solidFill>
                <a:latin typeface="Microsoft YaHei"/>
                <a:ea typeface="Microsoft YaHei"/>
              </a:rPr>
              <a:t>成书带走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总 · 概念  ·  城市记忆策展人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总 · 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红色研学不缺内容，缺的是策展力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64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pt-icon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0" y="19659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8322A"/>
                </a:solidFill>
                <a:latin typeface="Microsoft YaHei"/>
                <a:ea typeface="Microsoft YaHei"/>
              </a:rPr>
              <a:t>点位串联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77440"/>
            <a:ext cx="9326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A6154"/>
                </a:solidFill>
                <a:latin typeface="Microsoft YaHei"/>
                <a:ea typeface="Microsoft YaHei"/>
              </a:rPr>
              <a:t>地图上把点连起来，彼此孤立；拿到的是清单，不是故事。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11064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pt-icon-w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731520" cy="731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33832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8322A"/>
                </a:solidFill>
                <a:latin typeface="Microsoft YaHei"/>
                <a:ea typeface="Microsoft YaHei"/>
              </a:rPr>
              <a:t>讲解难规模化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94760"/>
            <a:ext cx="9326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A6154"/>
                </a:solidFill>
                <a:latin typeface="Microsoft YaHei"/>
                <a:ea typeface="Microsoft YaHei"/>
              </a:rPr>
              <a:t>资深策展人能讲「一栋楼的多重人生」，但人力无法批量复制。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11064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pt-icon-tru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46320"/>
            <a:ext cx="731520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28800" y="48006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8322A"/>
                </a:solidFill>
                <a:latin typeface="Microsoft YaHei"/>
                <a:ea typeface="Microsoft YaHei"/>
              </a:rPr>
              <a:t>AI 不可信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12080"/>
            <a:ext cx="9326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A6154"/>
                </a:solidFill>
                <a:latin typeface="Microsoft YaHei"/>
                <a:ea typeface="Microsoft YaHei"/>
              </a:rPr>
              <a:t>通用大模型张口就来年份与人物，结论没有出处，错了你背锅。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总 · 概念  ·  城市记忆策展人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总 · 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定位：AI 城市文化漫步策展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A6154"/>
                </a:solidFill>
                <a:latin typeface="Microsoft YaHei"/>
                <a:ea typeface="Microsoft YaHei"/>
              </a:rPr>
              <a:t>一句话触发 · 证据先于叙事 · 成书后再翻开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194560" cy="68580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691640"/>
            <a:ext cx="4206240" cy="68580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691640"/>
            <a:ext cx="4663440" cy="68580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56232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F8F1"/>
                </a:solidFill>
                <a:latin typeface="Microsoft YaHei"/>
                <a:ea typeface="Microsoft YaHei"/>
              </a:rPr>
              <a:t>维度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56232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BF8F1"/>
                </a:solidFill>
                <a:latin typeface="Microsoft YaHei"/>
                <a:ea typeface="Microsoft YaHei"/>
              </a:rPr>
              <a:t>普通路线 App / 通用大模型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856232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BF8F1"/>
                </a:solidFill>
                <a:latin typeface="Microsoft YaHei"/>
                <a:ea typeface="Microsoft YaHei"/>
              </a:rPr>
              <a:t>红鸢 RedTrip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68880"/>
            <a:ext cx="2194560" cy="68580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246888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468880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33472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内容组织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633472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6154"/>
                </a:solidFill>
                <a:latin typeface="Microsoft YaHei"/>
                <a:ea typeface="Microsoft YaHei"/>
              </a:rPr>
              <a:t>点位串联，彼此孤立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33472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C21"/>
                </a:solidFill>
                <a:latin typeface="Microsoft YaHei"/>
                <a:ea typeface="Microsoft YaHei"/>
              </a:rPr>
              <a:t>建筑 × 人物 × 事件，编织关系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2194560" cy="68580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246120"/>
            <a:ext cx="4206240" cy="68580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0" y="3246120"/>
            <a:ext cx="4663440" cy="68580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10712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可信度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410712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6154"/>
                </a:solidFill>
                <a:latin typeface="Microsoft YaHei"/>
                <a:ea typeface="Microsoft YaHei"/>
              </a:rPr>
              <a:t>可能编造、无出处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410712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C21"/>
                </a:solidFill>
                <a:latin typeface="Microsoft YaHei"/>
                <a:ea typeface="Microsoft YaHei"/>
              </a:rPr>
              <a:t>证据分级 A–E，找不到就明说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2194560" cy="68580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402336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49440" y="4023360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87952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可解释性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187952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6154"/>
                </a:solidFill>
                <a:latin typeface="Microsoft YaHei"/>
                <a:ea typeface="Microsoft YaHei"/>
              </a:rPr>
              <a:t>黑盒生成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187952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C21"/>
                </a:solidFill>
                <a:latin typeface="Microsoft YaHei"/>
                <a:ea typeface="Microsoft YaHei"/>
              </a:rPr>
              <a:t>句末上标即证据 + 反方复核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800600"/>
            <a:ext cx="2194560" cy="68580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4800600"/>
            <a:ext cx="4206240" cy="68580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49440" y="4800600"/>
            <a:ext cx="4663440" cy="68580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965192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成果形态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4965192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6154"/>
                </a:solidFill>
                <a:latin typeface="Microsoft YaHei"/>
                <a:ea typeface="Microsoft YaHei"/>
              </a:rPr>
              <a:t>页面即看即忘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965192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C21"/>
                </a:solidFill>
                <a:latin typeface="Microsoft YaHei"/>
                <a:ea typeface="Microsoft YaHei"/>
              </a:rPr>
              <a:t>书页 / 地图 / PDF / EPUB / 小程序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总 · 概念  ·  城市记忆策展人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分 · 产品亮点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一次策展的七步旅程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011680"/>
            <a:ext cx="1554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01</a:t>
            </a:r>
          </a:p>
        </p:txBody>
      </p:sp>
      <p:pic>
        <p:nvPicPr>
          <p:cNvPr id="9" name="Picture 8" descr="ppt-icon-w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35661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A8322A"/>
                </a:solidFill>
                <a:latin typeface="Microsoft YaHei"/>
                <a:ea typeface="Microsoft YaHei"/>
              </a:rPr>
              <a:t>出题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069080"/>
            <a:ext cx="137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A6154"/>
                </a:solidFill>
                <a:latin typeface="Microsoft YaHei"/>
                <a:ea typeface="Microsoft YaHei"/>
              </a:rPr>
              <a:t>城市·起点·时长·调性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011680"/>
            <a:ext cx="1554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1945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02</a:t>
            </a:r>
          </a:p>
        </p:txBody>
      </p:sp>
      <p:pic>
        <p:nvPicPr>
          <p:cNvPr id="14" name="Picture 13" descr="ppt-icon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606040"/>
            <a:ext cx="731520" cy="731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35661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A8322A"/>
                </a:solidFill>
                <a:latin typeface="Microsoft YaHei"/>
                <a:ea typeface="Microsoft YaHei"/>
              </a:rPr>
              <a:t>策展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69080"/>
            <a:ext cx="137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A6154"/>
                </a:solidFill>
                <a:latin typeface="Microsoft YaHei"/>
                <a:ea typeface="Microsoft YaHei"/>
              </a:rPr>
              <a:t>取证·抽签·装订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011680"/>
            <a:ext cx="1554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1945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03</a:t>
            </a:r>
          </a:p>
        </p:txBody>
      </p:sp>
      <p:pic>
        <p:nvPicPr>
          <p:cNvPr id="19" name="Picture 18" descr="ppt-icon-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606040"/>
            <a:ext cx="731520" cy="731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94760" y="35661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A8322A"/>
                </a:solidFill>
                <a:latin typeface="Microsoft YaHei"/>
                <a:ea typeface="Microsoft YaHei"/>
              </a:rPr>
              <a:t>序章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069080"/>
            <a:ext cx="137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A6154"/>
                </a:solidFill>
                <a:latin typeface="Microsoft YaHei"/>
                <a:ea typeface="Microsoft YaHei"/>
              </a:rPr>
              <a:t>主题·人物·脉络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2011680"/>
            <a:ext cx="1554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1945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04</a:t>
            </a:r>
          </a:p>
        </p:txBody>
      </p:sp>
      <p:pic>
        <p:nvPicPr>
          <p:cNvPr id="24" name="Picture 23" descr="ppt-icon-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606040"/>
            <a:ext cx="731520" cy="7315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0" y="35661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A8322A"/>
                </a:solidFill>
                <a:latin typeface="Microsoft YaHei"/>
                <a:ea typeface="Microsoft YaHei"/>
              </a:rPr>
              <a:t>阅读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069080"/>
            <a:ext cx="137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A6154"/>
                </a:solidFill>
                <a:latin typeface="Microsoft YaHei"/>
                <a:ea typeface="Microsoft YaHei"/>
              </a:rPr>
              <a:t>站站流动散文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2011680"/>
            <a:ext cx="1554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21945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05</a:t>
            </a:r>
          </a:p>
        </p:txBody>
      </p:sp>
      <p:pic>
        <p:nvPicPr>
          <p:cNvPr id="29" name="Picture 28" descr="ppt-icon-re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606040"/>
            <a:ext cx="731520" cy="7315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78040" y="35661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A8322A"/>
                </a:solidFill>
                <a:latin typeface="Microsoft YaHei"/>
                <a:ea typeface="Microsoft YaHei"/>
              </a:rPr>
              <a:t>反方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069080"/>
            <a:ext cx="137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A6154"/>
                </a:solidFill>
                <a:latin typeface="Microsoft YaHei"/>
                <a:ea typeface="Microsoft YaHei"/>
              </a:rPr>
              <a:t>策展留白挑刺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2011680"/>
            <a:ext cx="1554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21945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06</a:t>
            </a:r>
          </a:p>
        </p:txBody>
      </p:sp>
      <p:pic>
        <p:nvPicPr>
          <p:cNvPr id="34" name="Picture 33" descr="ppt-icon-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0" y="2606040"/>
            <a:ext cx="731520" cy="7315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69680" y="35661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A8322A"/>
                </a:solidFill>
                <a:latin typeface="Microsoft YaHei"/>
                <a:ea typeface="Microsoft YaHei"/>
              </a:rPr>
              <a:t>舆图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069080"/>
            <a:ext cx="137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A6154"/>
                </a:solidFill>
                <a:latin typeface="Microsoft YaHei"/>
                <a:ea typeface="Microsoft YaHei"/>
              </a:rPr>
              <a:t>2.5D 可点可读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69880" y="2011680"/>
            <a:ext cx="1554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61320" y="21945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07</a:t>
            </a:r>
          </a:p>
        </p:txBody>
      </p:sp>
      <p:pic>
        <p:nvPicPr>
          <p:cNvPr id="39" name="Picture 38" descr="ppt-icon-expo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60" y="2606040"/>
            <a:ext cx="731520" cy="7315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561320" y="35661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A8322A"/>
                </a:solidFill>
                <a:latin typeface="Microsoft YaHei"/>
                <a:ea typeface="Microsoft YaHei"/>
              </a:rPr>
              <a:t>带走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4069080"/>
            <a:ext cx="137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A6154"/>
                </a:solidFill>
                <a:latin typeface="Microsoft YaHei"/>
                <a:ea typeface="Microsoft YaHei"/>
              </a:rPr>
              <a:t>PDF / EPUB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分 · 产品  ·  城市记忆策展人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分 · 产品亮点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六大产品亮点一览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pt-icon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6400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1031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证据分级 A–E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3063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先分级再写作，料薄处收着说，绝不硬编。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pt-icon-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57400"/>
            <a:ext cx="640080" cy="640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49240" y="21031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可走的长散文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063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每站流动叙事：进入·叠层·人物·转场。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73736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pt-icon-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057400"/>
            <a:ext cx="64008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89720" y="21031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反方策展人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834640"/>
            <a:ext cx="3063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独立挑刺：错在哪、谁缺席、哪站被跳过。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pt-icon-ex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51960"/>
            <a:ext cx="640080" cy="640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429768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书籍化成册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3063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同一叙事导出 PDF / EPUB，收藏带走。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93192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pt-icon-s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251960"/>
            <a:ext cx="640080" cy="640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49240" y="429768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成书后再翻开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029200"/>
            <a:ext cx="3063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进度如实汇报，避免半成品抢先入眼。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93192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pt-icon-k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251960"/>
            <a:ext cx="640080" cy="6400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89720" y="429768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红鸢抽签读法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029200"/>
            <a:ext cx="3063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每次语气不同，但绝不新增史实。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分 · 产品  ·  城市记忆策展人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分 · 产品亮点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证据分级：把「防幻觉」做成产品体验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63040" y="2057400"/>
            <a:ext cx="914400" cy="914400"/>
          </a:xfrm>
          <a:prstGeom prst="round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2402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BF8F1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A1C21"/>
                </a:solidFill>
                <a:latin typeface="Microsoft YaHei"/>
                <a:ea typeface="Microsoft YaHei"/>
              </a:rPr>
              <a:t>一手馆藏档案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057400"/>
            <a:ext cx="914400" cy="914400"/>
          </a:xfrm>
          <a:prstGeom prst="roundRect">
            <a:avLst/>
          </a:prstGeom>
          <a:solidFill>
            <a:srgbClr val="B98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2402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BF8F1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20040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A1C21"/>
                </a:solidFill>
                <a:latin typeface="Microsoft YaHei"/>
                <a:ea typeface="Microsoft YaHei"/>
              </a:rPr>
              <a:t>可靠策展词库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82880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59" y="2057400"/>
            <a:ext cx="914400" cy="914400"/>
          </a:xfrm>
          <a:prstGeom prst="roundRect">
            <a:avLst/>
          </a:prstGeom>
          <a:solidFill>
            <a:srgbClr val="7C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22402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BF8F1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320040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A1C21"/>
                </a:solidFill>
                <a:latin typeface="Microsoft YaHei"/>
                <a:ea typeface="Microsoft YaHei"/>
              </a:rPr>
              <a:t>通用二手资料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182880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04119" y="2057400"/>
            <a:ext cx="914400" cy="914400"/>
          </a:xfrm>
          <a:prstGeom prst="roundRect">
            <a:avLst/>
          </a:prstGeom>
          <a:solidFill>
            <a:srgbClr val="6A6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19" y="22402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BF8F1"/>
                </a:solidFill>
                <a:latin typeface="Microsoft YaHei"/>
                <a:ea typeface="Microsoft YaHei"/>
              </a:rPr>
              <a:t>D/E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320040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A1C21"/>
                </a:solidFill>
                <a:latin typeface="Microsoft YaHei"/>
                <a:ea typeface="Microsoft YaHei"/>
              </a:rPr>
              <a:t>传闻与推测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064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26280"/>
            <a:ext cx="104241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6A6154"/>
                </a:solidFill>
                <a:latin typeface="Microsoft YaHei"/>
                <a:ea typeface="Microsoft YaHei"/>
              </a:rPr>
              <a:t>句末角标可点开出处 · 找不到依据就如实说「暂无数据支撑」
数字不可被幻觉辜负 —— AI 该算清楚，而不是侃侃而谈。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分 · 产品  ·  城市记忆策展人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分 · 产品亮点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多端触达：Web + 微信小程序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A6154"/>
                </a:solidFill>
                <a:latin typeface="Microsoft YaHei"/>
                <a:ea typeface="Microsoft YaHei"/>
              </a:rPr>
              <a:t>同一策展 API，访客无需登录即可完整体验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394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pt-icon-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777240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240280"/>
            <a:ext cx="3840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8322A"/>
                </a:solidFill>
                <a:latin typeface="Microsoft YaHei"/>
                <a:ea typeface="Microsoft YaHei"/>
              </a:rPr>
              <a:t>Web 完整书页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C21"/>
                </a:solidFill>
                <a:latin typeface="Microsoft YaHei"/>
                <a:ea typeface="Microsoft YaHei"/>
              </a:rPr>
              <a:t>·  出题 Brief · SSE 真进度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39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C21"/>
                </a:solidFill>
                <a:latin typeface="Microsoft YaHei"/>
                <a:ea typeface="Microsoft YaHei"/>
              </a:rPr>
              <a:t>·  序章 / 章节阅读 / 反方留白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C21"/>
                </a:solidFill>
                <a:latin typeface="Microsoft YaHei"/>
                <a:ea typeface="Microsoft YaHei"/>
              </a:rPr>
              <a:t>·  2.5D 舆图 · PDF / EPUB 导出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C21"/>
                </a:solidFill>
                <a:latin typeface="Microsoft YaHei"/>
                <a:ea typeface="Microsoft YaHei"/>
              </a:rPr>
              <a:t>·  登录可选 · BYOK 模型配置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394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pt-icon-mini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48840"/>
            <a:ext cx="777240" cy="777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98079" y="2240280"/>
            <a:ext cx="3840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8322A"/>
                </a:solidFill>
                <a:latin typeface="Microsoft YaHei"/>
                <a:ea typeface="Microsoft YaHei"/>
              </a:rPr>
              <a:t>微信小程序 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C21"/>
                </a:solidFill>
                <a:latin typeface="Microsoft YaHei"/>
                <a:ea typeface="Microsoft YaHei"/>
              </a:rPr>
              <a:t>·  AppID 已上架开发版 0.1.1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20439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C21"/>
                </a:solidFill>
                <a:latin typeface="Microsoft YaHei"/>
                <a:ea typeface="Microsoft YaHei"/>
              </a:rPr>
              <a:t>·  出题 / 装订进度 / 序章 / 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02336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C21"/>
                </a:solidFill>
                <a:latin typeface="Microsoft YaHei"/>
                <a:ea typeface="Microsoft YaHei"/>
              </a:rPr>
              <a:t>·  轮询策展（适配无 EventSource）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2628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C21"/>
                </a:solidFill>
                <a:latin typeface="Microsoft YaHei"/>
                <a:ea typeface="Microsoft YaHei"/>
              </a:rPr>
              <a:t>·  大赛 Token 服务端默认 GLM-5.2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分 · 产品  ·  城市记忆策展人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分 · 技术亮点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内容管线：唯一真身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A6154"/>
                </a:solidFill>
                <a:latin typeface="Microsoft YaHei"/>
                <a:ea typeface="Microsoft YaHei"/>
              </a:rPr>
              <a:t>intent → evidence → plan → narrative → polish → gate →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1554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8328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A1C21"/>
                </a:solidFill>
                <a:latin typeface="Microsoft YaHei"/>
                <a:ea typeface="Microsoft YaHei"/>
              </a:rPr>
              <a:t>出题解析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8036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7C8A8D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2103120"/>
            <a:ext cx="1554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3774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88036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38328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A1C21"/>
                </a:solidFill>
                <a:latin typeface="Microsoft YaHei"/>
                <a:ea typeface="Microsoft YaHei"/>
              </a:rPr>
              <a:t>证据分级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88036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7C8A8D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40" y="2103120"/>
            <a:ext cx="1554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23774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88036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38328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A1C21"/>
                </a:solidFill>
                <a:latin typeface="Microsoft YaHei"/>
                <a:ea typeface="Microsoft YaHei"/>
              </a:rPr>
              <a:t>路线规划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88036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7C8A8D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2103120"/>
            <a:ext cx="1554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23774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88036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Narrative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38328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A1C21"/>
                </a:solidFill>
                <a:latin typeface="Microsoft YaHei"/>
                <a:ea typeface="Microsoft YaHei"/>
              </a:rPr>
              <a:t>叙事编织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88036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7C8A8D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2103120"/>
            <a:ext cx="1554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23774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88036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Polish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38328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A1C21"/>
                </a:solidFill>
                <a:latin typeface="Microsoft YaHei"/>
                <a:ea typeface="Microsoft YaHei"/>
              </a:rPr>
              <a:t>长文润色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88036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7C8A8D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2103120"/>
            <a:ext cx="1554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23774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88036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38328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A1C21"/>
                </a:solidFill>
                <a:latin typeface="Microsoft YaHei"/>
                <a:ea typeface="Microsoft YaHei"/>
              </a:rPr>
              <a:t>质检门禁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288036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7C8A8D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0" y="2103120"/>
            <a:ext cx="1554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07040" y="23774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B9824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288036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3383280"/>
            <a:ext cx="1463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A1C21"/>
                </a:solidFill>
                <a:latin typeface="Microsoft YaHei"/>
                <a:ea typeface="Microsoft YaHei"/>
              </a:rPr>
              <a:t>反方复核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480560"/>
            <a:ext cx="11064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754880"/>
            <a:ext cx="10424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6A6154"/>
                </a:solidFill>
                <a:latin typeface="Microsoft YaHei"/>
                <a:ea typeface="Microsoft YaHei"/>
              </a:rPr>
              <a:t>年份防编造是硬规则 · Gate 拦住套话与空转场 · Review 非阻断但必须可见
降级诚实：无 key / 未过门 → status=degraded，不把假 demo 硬塞成成功。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分 · 技术  ·  城市记忆策展人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分 · 技术亮点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工程护城河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2788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pt-icon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011680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8803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A8322A"/>
                </a:solidFill>
                <a:latin typeface="Microsoft YaHei"/>
                <a:ea typeface="Microsoft YaHei"/>
              </a:rPr>
              <a:t>证据工程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A–E 分级写入契约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77639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句级 sentence_provenance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805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buri / 上图 URI 可点核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83080"/>
            <a:ext cx="2788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pt-icon-t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11680"/>
            <a:ext cx="685800" cy="685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20440" y="28803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A8322A"/>
                </a:solidFill>
                <a:latin typeface="Microsoft YaHei"/>
                <a:ea typeface="Microsoft YaHei"/>
              </a:rPr>
              <a:t>Gate 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4747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字段·禁词·避坑门禁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977639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CI 跑 redteam runner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4805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失败走 degraded 不装成功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2788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pt-icon-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011680"/>
            <a:ext cx="685800" cy="685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46520" y="28803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A8322A"/>
                </a:solidFill>
                <a:latin typeface="Microsoft YaHei"/>
                <a:ea typeface="Microsoft YaHei"/>
              </a:rPr>
              <a:t>流式装订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747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POST /curate/start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39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SSE 真进度 + 小程序轮询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805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成书后再呈现书页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1783080"/>
            <a:ext cx="2788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pt-icon-libr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2011680"/>
            <a:ext cx="685800" cy="685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372600" y="28803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A8322A"/>
                </a:solidFill>
                <a:latin typeface="Microsoft YaHei"/>
                <a:ea typeface="Microsoft YaHei"/>
              </a:rPr>
              <a:t>多源取证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4747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上海图书馆开放数据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977639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白名单 / 热词 / 走廊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44805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C21"/>
                </a:solidFill>
                <a:latin typeface="Microsoft YaHei"/>
                <a:ea typeface="Microsoft YaHei"/>
              </a:rPr>
              <a:t>· OSM 足迹服务地图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分 · 技术  ·  城市记忆策展人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分 · 技术亮点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技术栈与仓库结构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8322A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937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C21"/>
                </a:solidFill>
                <a:latin typeface="Microsoft YaHei"/>
                <a:ea typeface="Microsoft YaHei"/>
              </a:rPr>
              <a:t>React 19 · TypeScript · Vite
Zustand · XState · Three.js 舆图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86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8322A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40"/>
            <a:ext cx="4937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C21"/>
                </a:solidFill>
                <a:latin typeface="Microsoft YaHei"/>
                <a:ea typeface="Microsoft YaHei"/>
              </a:rPr>
              <a:t>FastAPI · Python 策展管线
JWT 鉴权 · BYOK 加密存储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17720"/>
            <a:ext cx="5486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8322A"/>
                </a:solidFill>
                <a:latin typeface="Microsoft YaHei"/>
                <a:ea typeface="Microsoft YaHei"/>
              </a:rPr>
              <a:t>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4937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C21"/>
                </a:solidFill>
                <a:latin typeface="Microsoft YaHei"/>
                <a:ea typeface="Microsoft YaHei"/>
              </a:rPr>
              <a:t>Web /redtrip · 微信小程序
sy-realm.ltd 线上可演示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783080"/>
            <a:ext cx="53035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8322A"/>
                </a:solidFill>
                <a:latin typeface="Microsoft YaHei"/>
                <a:ea typeface="Microsoft YaHei"/>
              </a:rPr>
              <a:t>Monorepo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14600"/>
            <a:ext cx="4754880" cy="3108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C21"/>
                </a:solidFill>
                <a:latin typeface="Microsoft YaHei"/>
                <a:ea typeface="Microsoft YaHei"/>
              </a:rPr>
              <a:t>apps/web          书页前端
apps/api          FastAPI
apps/miniprogram  微信小程序
packages/curator  策展管线
packages/gate     质检 / 红队
packages/library-client  上图等客户端
packages/contracts 共享契约
content/          白名单·fixtures·热词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分 · 技术  ·  城市记忆策展人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总 · 内容产出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策展的终点，是一本可以带走的书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pt-icon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6400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2194560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序章书页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3063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主题 · 人物 · 章节脉络 · 红鸢读法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pt-icon-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48840"/>
            <a:ext cx="640080" cy="640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94960" y="2194560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站站章节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26080"/>
            <a:ext cx="3063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流动散文 · 句级溯源 · 行前提示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78308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pt-icon-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148840"/>
            <a:ext cx="64008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35440" y="2194560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叙事舆图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926080"/>
            <a:ext cx="3063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2.5D 海派配色 · 点站即读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pt-icon-ex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97680"/>
            <a:ext cx="640080" cy="640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4343400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导出成册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74920"/>
            <a:ext cx="3063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PDF / EPUB · 收藏与分享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93192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pt-icon-re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297680"/>
            <a:ext cx="640080" cy="640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94960" y="4343400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反方附录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074920"/>
            <a:ext cx="3063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策展留白 · 敢于摊开犹豫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931920"/>
            <a:ext cx="3611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pt-icon-miniap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297680"/>
            <a:ext cx="640080" cy="6400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35440" y="4343400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21"/>
                </a:solidFill>
                <a:latin typeface="Microsoft YaHei"/>
                <a:ea typeface="Microsoft YaHei"/>
              </a:rPr>
              <a:t>小程序书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074920"/>
            <a:ext cx="3063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6154"/>
                </a:solidFill>
                <a:latin typeface="Microsoft YaHei"/>
                <a:ea typeface="Microsoft YaHei"/>
              </a:rPr>
              <a:t>手机端完整体验切片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总 · 产出  ·  城市记忆策展人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322A"/>
                </a:solidFill>
                <a:latin typeface="Microsoft YaHei"/>
                <a:ea typeface="Microsoft YaHei"/>
              </a:rPr>
              <a:t>总 · 内容产出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C21"/>
                </a:solidFill>
                <a:latin typeface="Microsoft YaHei"/>
                <a:ea typeface="Microsoft YaHei"/>
              </a:rPr>
              <a:t>竞赛演示线：秒开看成书形态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pt-icon-w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83080" y="219456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8322A"/>
                </a:solidFill>
                <a:latin typeface="Microsoft YaHei"/>
                <a:ea typeface="Microsoft YaHei"/>
              </a:rPr>
              <a:t>演示武康 · 六站可溯源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75488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C21"/>
                </a:solidFill>
                <a:latin typeface="Microsoft YaHei"/>
                <a:ea typeface="Microsoft YaHei"/>
              </a:rPr>
              <a:t>冻结包，不等待 LLM
巴金故居 → 周璇旧居 → 武康大楼
→ 宋庆龄故居 → 丁香花园 → 武康庭
每站可点上图 buri · 句级出处可演示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303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pt-icon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103120"/>
            <a:ext cx="685800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43800" y="2194560"/>
            <a:ext cx="374903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8322A"/>
                </a:solidFill>
                <a:latin typeface="Microsoft YaHei"/>
                <a:ea typeface="Microsoft YaHei"/>
              </a:rPr>
              <a:t>演示一大·外滩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45720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C21"/>
                </a:solidFill>
                <a:latin typeface="Microsoft YaHei"/>
                <a:ea typeface="Microsoft YaHei"/>
              </a:rPr>
              <a:t>通道诚实叙事样板
展示「馆藏 / 词库 / OSM」分层
适合向评委说明：
我们如何标注证据通道，而不是假装全能。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总 · 产出  ·  城市记忆策展人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5836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C8A8D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-icon-k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188720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>
                <a:solidFill>
                  <a:srgbClr val="FBF8F1"/>
                </a:solidFill>
                <a:latin typeface="Microsoft YaHei"/>
                <a:ea typeface="Microsoft YaHei"/>
              </a:rPr>
              <a:t>数字不可被幻觉辜负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EDE4D3"/>
                </a:solidFill>
                <a:latin typeface="Microsoft YaHei"/>
                <a:ea typeface="Microsoft YaHei"/>
              </a:rPr>
              <a:t>AI 该算清楚，而不是侃侃而谈。
红鸢把馆藏变成一场走得动的展览。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9418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B9824F"/>
                </a:solidFill>
                <a:latin typeface="Microsoft YaHei"/>
                <a:ea typeface="Microsoft YaHei"/>
              </a:rPr>
              <a:t>Web  https://sy-realm.ltd/redtrip/
GitHub  github.com/MiLab-Bit/RedTrip
小程序  AppID wxc7953007477c1980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7C8A8D"/>
                </a:solidFill>
                <a:latin typeface="Microsoft YaHei"/>
                <a:ea typeface="Microsoft YaHei"/>
              </a:rPr>
              <a:t>谢谢 ·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